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60fe65d65e4907" /><Relationship Type="http://schemas.openxmlformats.org/officeDocument/2006/relationships/extended-properties" Target="/docProps/app.xml" Id="R4d4afb9086904554" /><Relationship Type="http://schemas.openxmlformats.org/officeDocument/2006/relationships/officeDocument" Target="/ppt/presentation.xml" Id="R0f9282f17aa54a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244432ad14f4c"/>
  </p:sldMasterIdLst>
  <p:notesMasterIdLst>
    <p:notesMasterId xmlns:r="http://schemas.openxmlformats.org/officeDocument/2006/relationships" r:id="Re9bfb82915d84592"/>
  </p:notesMasterIdLst>
  <p:sldIdLst>
    <p:sldId xmlns:r="http://schemas.openxmlformats.org/officeDocument/2006/relationships" id="256" r:id="R6b454fe19dc74eff"/>
    <p:sldId xmlns:r="http://schemas.openxmlformats.org/officeDocument/2006/relationships" id="257" r:id="Rf8aca25cf2fc46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6db986ba54f36" /><Relationship Type="http://schemas.openxmlformats.org/officeDocument/2006/relationships/slideMaster" Target="/ppt/slideMasters/slideMaster1.xml" Id="Rc55244432ad14f4c" /><Relationship Type="http://schemas.openxmlformats.org/officeDocument/2006/relationships/notesMaster" Target="/ppt/notesMasters/notesMaster1.xml" Id="Re9bfb82915d84592" /><Relationship Type="http://schemas.openxmlformats.org/officeDocument/2006/relationships/presProps" Target="/ppt/presProps.xml" Id="R9706d87021244884" /><Relationship Type="http://schemas.openxmlformats.org/officeDocument/2006/relationships/tableStyles" Target="/ppt/tableStyles.xml" Id="R204fc55e1dd34170" /><Relationship Type="http://schemas.openxmlformats.org/officeDocument/2006/relationships/slide" Target="/ppt/slides/slide1.xml" Id="R6b454fe19dc74eff" /><Relationship Type="http://schemas.openxmlformats.org/officeDocument/2006/relationships/slide" Target="/ppt/slides/slide2.xml" Id="Rf8aca25cf2fc46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3e1fd988254e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bd360bf47403b" /><Relationship Type="http://schemas.openxmlformats.org/officeDocument/2006/relationships/notesMaster" Target="/ppt/notesMasters/notesMaster1.xml" Id="R93e16e295623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b058e594fb4f20" /><Relationship Type="http://schemas.openxmlformats.org/officeDocument/2006/relationships/notesMaster" Target="/ppt/notesMasters/notesMaster1.xml" Id="R580b2b761178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abb8b61cd48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abb066748444b9" /><Relationship Type="http://schemas.openxmlformats.org/officeDocument/2006/relationships/slideLayout" Target="/ppt/slideLayouts/slideLayout1.xml" Id="R628f1734f22f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8f1734f22f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fa776a7941dc" /><Relationship Type="http://schemas.openxmlformats.org/officeDocument/2006/relationships/notesSlide" Target="/ppt/notesSlides/notesSlide1.xml" Id="R5c872419613547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e212200744f6" /><Relationship Type="http://schemas.openxmlformats.org/officeDocument/2006/relationships/notesSlide" Target="/ppt/notesSlides/notesSlide2.xml" Id="R5a5378d92d6e43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navy-rail">
            <a:extLst xmlns:a="http://schemas.openxmlformats.org/drawingml/2006/main">
              <a:ext uri="{FF2B5EF4-FFF2-40B4-BE49-F238E27FC236}">
                <a16:creationId xmlns:a16="http://schemas.microsoft.com/office/drawing/2014/main" id="{633DE558-0CB4-4806-9D6A-80162B8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0">
            <a:solidFill>
              <a:srgbClr val="18243A"/>
            </a:solidFill>
            <a:prstDash val="solid"/>
          </a:ln>
        </p:spPr>
      </p:sp>
      <p:sp>
        <p:nvSpPr>
          <p:cNvPr id="2" name="orange-accent">
            <a:extLst xmlns:a="http://schemas.openxmlformats.org/drawingml/2006/main">
              <a:ext uri="{FF2B5EF4-FFF2-40B4-BE49-F238E27FC236}">
                <a16:creationId xmlns:a16="http://schemas.microsoft.com/office/drawing/2014/main" id="{CE34EFD7-FA02-4A90-B716-6060F68C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FF99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12BF08C-0894-46D2-81BE-66ABBED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810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rPr>
              <a:t>AWS BACKEND  / 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58AF63-EEE4-4331-BC35-E840065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백엔드 내부망 구조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2DAD60A-A361-4B9C-BA0B-5732BD0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애플리케이션 · 데이터베이스 · 캐시 · 스토리지를</a:t>
            </a:r>
          </a:p>
          <a:p xmlns:a="http://schemas.openxmlformats.org/drawingml/2006/main">
            <a:pPr algn="l">
              <a:defRPr sz="18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하나의 안전한 흐름으로 연결합니다.</a:t>
            </a:r>
          </a:p>
        </p:txBody>
      </p:sp>
      <p:sp>
        <p:nvSpPr>
          <p:cNvPr id="6" name="scope">
            <a:extLst xmlns:a="http://schemas.openxmlformats.org/drawingml/2006/main">
              <a:ext uri="{FF2B5EF4-FFF2-40B4-BE49-F238E27FC236}">
                <a16:creationId xmlns:a16="http://schemas.microsoft.com/office/drawing/2014/main" id="{A741D40D-9A6F-4C60-B0B8-538CD963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483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Amazon ECS  ·  Amazon RDS  ·  Amazon ElastiCache  ·  Amazon S3</a:t>
            </a:r>
          </a:p>
        </p:txBody>
      </p:sp>
      <p:sp>
        <p:nvSpPr>
          <p:cNvPr id="7" name="slide-1">
            <a:extLst xmlns:a="http://schemas.openxmlformats.org/drawingml/2006/main">
              <a:ext uri="{FF2B5EF4-FFF2-40B4-BE49-F238E27FC236}">
                <a16:creationId xmlns:a16="http://schemas.microsoft.com/office/drawing/2014/main" id="{DC662EEB-15EE-4499-BAB2-36A45DB2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1A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791A1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6003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ection">
            <a:extLst xmlns:a="http://schemas.openxmlformats.org/drawingml/2006/main">
              <a:ext uri="{FF2B5EF4-FFF2-40B4-BE49-F238E27FC236}">
                <a16:creationId xmlns:a16="http://schemas.microsoft.com/office/drawing/2014/main" id="{2F60F2D6-4EAA-4673-AB06-D52C23CE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rPr>
              <a:t>BACKEND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C25E6E-8919-4E3C-9BDD-1B2196D5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요청은 애플리케이션을 거쳐 데이터 계층으로 흐릅니다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A7FB8E5-F5AD-4548-AD56-7E4AFB66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외부에는 진입점만 노출하고, 핵심 서비스는 프라이빗 네트워크 안에서 통신합니다.</a:t>
            </a:r>
          </a:p>
        </p:txBody>
      </p:sp>
      <p:sp>
        <p:nvSpPr>
          <p:cNvPr id="4" name="vpc-boundary">
            <a:extLst xmlns:a="http://schemas.openxmlformats.org/drawingml/2006/main">
              <a:ext uri="{FF2B5EF4-FFF2-40B4-BE49-F238E27FC236}">
                <a16:creationId xmlns:a16="http://schemas.microsoft.com/office/drawing/2014/main" id="{AF11A6FA-14BF-4D8F-8714-71470B0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43075"/>
            <a:ext cx="9220200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11906">
            <a:solidFill>
              <a:srgbClr val="AAB5C4"/>
            </a:solidFill>
            <a:prstDash val="solid"/>
          </a:ln>
        </p:spPr>
      </p:sp>
      <p:sp>
        <p:nvSpPr>
          <p:cNvPr id="5" name="vpc-label">
            <a:extLst xmlns:a="http://schemas.openxmlformats.org/drawingml/2006/main">
              <a:ext uri="{FF2B5EF4-FFF2-40B4-BE49-F238E27FC236}">
                <a16:creationId xmlns:a16="http://schemas.microsoft.com/office/drawing/2014/main" id="{383AE72C-7D8E-4574-A27A-AA798C48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66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8243A"/>
                </a:solidFill>
                <a:latin typeface="Malgun Gothic"/>
                <a:ea typeface="Malgun Gothic"/>
                <a:cs typeface="Malgun Gothic"/>
              </a:rPr>
              <a:t>AWS VPC</a:t>
            </a:r>
          </a:p>
        </p:txBody>
      </p:sp>
      <p:sp>
        <p:nvSpPr>
          <p:cNvPr id="6" name="public-subnet">
            <a:extLst xmlns:a="http://schemas.openxmlformats.org/drawingml/2006/main">
              <a:ext uri="{FF2B5EF4-FFF2-40B4-BE49-F238E27FC236}">
                <a16:creationId xmlns:a16="http://schemas.microsoft.com/office/drawing/2014/main" id="{0F4D9DCF-7DFB-48DB-AC87-6187E47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2000250" cy="3162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906">
            <a:solidFill>
              <a:srgbClr val="D6DDE6"/>
            </a:solidFill>
            <a:prstDash val="solid"/>
          </a:ln>
        </p:spPr>
      </p:sp>
      <p:sp>
        <p:nvSpPr>
          <p:cNvPr id="7" name="public-label">
            <a:extLst xmlns:a="http://schemas.openxmlformats.org/drawingml/2006/main">
              <a:ext uri="{FF2B5EF4-FFF2-40B4-BE49-F238E27FC236}">
                <a16:creationId xmlns:a16="http://schemas.microsoft.com/office/drawing/2014/main" id="{DEE451B5-DF98-4517-8912-676350F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PUBLIC SUBNET</a:t>
            </a:r>
          </a:p>
        </p:txBody>
      </p:sp>
      <p:sp>
        <p:nvSpPr>
          <p:cNvPr id="8" name="app-subnet">
            <a:extLst xmlns:a="http://schemas.openxmlformats.org/drawingml/2006/main">
              <a:ext uri="{FF2B5EF4-FFF2-40B4-BE49-F238E27FC236}">
                <a16:creationId xmlns:a16="http://schemas.microsoft.com/office/drawing/2014/main" id="{E32E9B99-15F9-481F-B546-F1FE000B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90750"/>
            <a:ext cx="2571750" cy="31623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1906">
            <a:solidFill>
              <a:srgbClr val="C8D9F5"/>
            </a:solidFill>
            <a:prstDash val="solid"/>
          </a:ln>
        </p:spPr>
      </p:sp>
      <p:sp>
        <p:nvSpPr>
          <p:cNvPr id="9" name="app-label">
            <a:extLst xmlns:a="http://schemas.openxmlformats.org/drawingml/2006/main">
              <a:ext uri="{FF2B5EF4-FFF2-40B4-BE49-F238E27FC236}">
                <a16:creationId xmlns:a16="http://schemas.microsoft.com/office/drawing/2014/main" id="{E99AA0AC-60D4-465E-A36F-D5D3DD6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241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3B82F6"/>
                </a:solidFill>
                <a:latin typeface="Malgun Gothic"/>
                <a:ea typeface="Malgun Gothic"/>
                <a:cs typeface="Malgun Gothic"/>
              </a:rPr>
              <a:t>PRIVATE APP SUBNET</a:t>
            </a:r>
          </a:p>
        </p:txBody>
      </p:sp>
      <p:sp>
        <p:nvSpPr>
          <p:cNvPr id="10" name="data-subnet">
            <a:extLst xmlns:a="http://schemas.openxmlformats.org/drawingml/2006/main">
              <a:ext uri="{FF2B5EF4-FFF2-40B4-BE49-F238E27FC236}">
                <a16:creationId xmlns:a16="http://schemas.microsoft.com/office/drawing/2014/main" id="{C9D1DB3B-AD1C-4FFA-A037-9AA24B82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90750"/>
            <a:ext cx="36957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AF9FF"/>
          </a:solidFill>
          <a:ln xmlns:a="http://schemas.openxmlformats.org/drawingml/2006/main" w="11906">
            <a:solidFill>
              <a:srgbClr val="D9D0F6"/>
            </a:solidFill>
            <a:prstDash val="solid"/>
          </a:ln>
        </p:spPr>
      </p:sp>
      <p:sp>
        <p:nvSpPr>
          <p:cNvPr id="11" name="data-label">
            <a:extLst xmlns:a="http://schemas.openxmlformats.org/drawingml/2006/main">
              <a:ext uri="{FF2B5EF4-FFF2-40B4-BE49-F238E27FC236}">
                <a16:creationId xmlns:a16="http://schemas.microsoft.com/office/drawing/2014/main" id="{6EA971F6-6B01-44DD-86BD-F1C7C47B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5CE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7C5CE5"/>
                </a:solidFill>
                <a:latin typeface="Malgun Gothic"/>
                <a:ea typeface="Malgun Gothic"/>
                <a:cs typeface="Malgun Gothic"/>
              </a:rPr>
              <a:t>PRIVATE DATA ACCESS</a:t>
            </a:r>
          </a:p>
        </p:txBody>
      </p:sp>
      <p:sp>
        <p:nvSpPr>
          <p:cNvPr id="12" name="client-card">
            <a:extLst xmlns:a="http://schemas.openxmlformats.org/drawingml/2006/main">
              <a:ext uri="{FF2B5EF4-FFF2-40B4-BE49-F238E27FC236}">
                <a16:creationId xmlns:a16="http://schemas.microsoft.com/office/drawing/2014/main" id="{F17E42F6-75EB-4247-99FA-140F23A3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16573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BD3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lient-mark">
            <a:extLst xmlns:a="http://schemas.openxmlformats.org/drawingml/2006/main">
              <a:ext uri="{FF2B5EF4-FFF2-40B4-BE49-F238E27FC236}">
                <a16:creationId xmlns:a16="http://schemas.microsoft.com/office/drawing/2014/main" id="{BA5B9066-12A3-42C5-A958-3BE4C2F7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1F5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14" name="client-abbr">
            <a:extLst xmlns:a="http://schemas.openxmlformats.org/drawingml/2006/main">
              <a:ext uri="{FF2B5EF4-FFF2-40B4-BE49-F238E27FC236}">
                <a16:creationId xmlns:a16="http://schemas.microsoft.com/office/drawing/2014/main" id="{C0CA0C5D-74CE-40C4-A5E2-6129C8C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4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8243A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15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267D5989-FCA9-49C8-8CC5-1F2A721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Client</a:t>
            </a:r>
          </a:p>
        </p:txBody>
      </p:sp>
      <p:sp>
        <p:nvSpPr>
          <p:cNvPr id="16" name="client-body">
            <a:extLst xmlns:a="http://schemas.openxmlformats.org/drawingml/2006/main">
              <a:ext uri="{FF2B5EF4-FFF2-40B4-BE49-F238E27FC236}">
                <a16:creationId xmlns:a16="http://schemas.microsoft.com/office/drawing/2014/main" id="{25AE8996-8D5D-4314-98D4-0D61DE56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99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웹 · 모바일 요청</a:t>
            </a:r>
          </a:p>
        </p:txBody>
      </p:sp>
      <p:sp>
        <p:nvSpPr>
          <p:cNvPr id="17" name="alb-card">
            <a:extLst xmlns:a="http://schemas.openxmlformats.org/drawingml/2006/main">
              <a:ext uri="{FF2B5EF4-FFF2-40B4-BE49-F238E27FC236}">
                <a16:creationId xmlns:a16="http://schemas.microsoft.com/office/drawing/2014/main" id="{F420472C-A8B7-4B71-85D8-96AE5A80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DC98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alb-mark">
            <a:extLst xmlns:a="http://schemas.openxmlformats.org/drawingml/2006/main">
              <a:ext uri="{FF2B5EF4-FFF2-40B4-BE49-F238E27FC236}">
                <a16:creationId xmlns:a16="http://schemas.microsoft.com/office/drawing/2014/main" id="{AABAC229-88D6-4753-BDCB-483F7518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19" name="alb-abbr">
            <a:extLst xmlns:a="http://schemas.openxmlformats.org/drawingml/2006/main">
              <a:ext uri="{FF2B5EF4-FFF2-40B4-BE49-F238E27FC236}">
                <a16:creationId xmlns:a16="http://schemas.microsoft.com/office/drawing/2014/main" id="{5D76E3D1-30E2-4B6C-A861-5F3DD008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9900"/>
                </a:solidFill>
                <a:latin typeface="Malgun Gothic"/>
                <a:ea typeface="Malgun Gothic"/>
                <a:cs typeface="Malgun Gothic"/>
              </a:rPr>
              <a:t>ALB</a:t>
            </a:r>
          </a:p>
        </p:txBody>
      </p:sp>
      <p:sp>
        <p:nvSpPr>
          <p:cNvPr id="20" name="alb-title">
            <a:extLst xmlns:a="http://schemas.openxmlformats.org/drawingml/2006/main">
              <a:ext uri="{FF2B5EF4-FFF2-40B4-BE49-F238E27FC236}">
                <a16:creationId xmlns:a16="http://schemas.microsoft.com/office/drawing/2014/main" id="{2924DD70-69FC-41AE-9A78-94DD5CB2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ALB</a:t>
            </a:r>
          </a:p>
        </p:txBody>
      </p:sp>
      <p:sp>
        <p:nvSpPr>
          <p:cNvPr id="21" name="alb-body">
            <a:extLst xmlns:a="http://schemas.openxmlformats.org/drawingml/2006/main">
              <a:ext uri="{FF2B5EF4-FFF2-40B4-BE49-F238E27FC236}">
                <a16:creationId xmlns:a16="http://schemas.microsoft.com/office/drawing/2014/main" id="{1D4D2B60-C2FD-4B31-9E34-C20BA6C7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099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44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요청 진입점</a:t>
            </a:r>
          </a:p>
        </p:txBody>
      </p:sp>
      <p:sp>
        <p:nvSpPr>
          <p:cNvPr id="22" name="ecs-card">
            <a:extLst xmlns:a="http://schemas.openxmlformats.org/drawingml/2006/main">
              <a:ext uri="{FF2B5EF4-FFF2-40B4-BE49-F238E27FC236}">
                <a16:creationId xmlns:a16="http://schemas.microsoft.com/office/drawing/2014/main" id="{9F4787BA-F338-4587-8463-41EF9A9A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FC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ecs-mark">
            <a:extLst xmlns:a="http://schemas.openxmlformats.org/drawingml/2006/main">
              <a:ext uri="{FF2B5EF4-FFF2-40B4-BE49-F238E27FC236}">
                <a16:creationId xmlns:a16="http://schemas.microsoft.com/office/drawing/2014/main" id="{6856A097-E77A-4654-89B2-2E36551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04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24" name="ecs-abbr">
            <a:extLst xmlns:a="http://schemas.openxmlformats.org/drawingml/2006/main">
              <a:ext uri="{FF2B5EF4-FFF2-40B4-BE49-F238E27FC236}">
                <a16:creationId xmlns:a16="http://schemas.microsoft.com/office/drawing/2014/main" id="{12B19F04-7660-463D-B82B-D21CFC52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0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82F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B82F6"/>
                </a:solidFill>
                <a:latin typeface="Malgun Gothic"/>
                <a:ea typeface="Malgun Gothic"/>
                <a:cs typeface="Malgun Gothic"/>
              </a:rPr>
              <a:t>ECS</a:t>
            </a:r>
          </a:p>
        </p:txBody>
      </p:sp>
      <p:sp>
        <p:nvSpPr>
          <p:cNvPr id="25" name="ecs-title">
            <a:extLst xmlns:a="http://schemas.openxmlformats.org/drawingml/2006/main">
              <a:ext uri="{FF2B5EF4-FFF2-40B4-BE49-F238E27FC236}">
                <a16:creationId xmlns:a16="http://schemas.microsoft.com/office/drawing/2014/main" id="{1EF132C0-9EBF-4777-A730-1E2B6CBD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62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8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Amazon ECS</a:t>
            </a:r>
          </a:p>
        </p:txBody>
      </p:sp>
      <p:sp>
        <p:nvSpPr>
          <p:cNvPr id="26" name="ecs-body">
            <a:extLst xmlns:a="http://schemas.openxmlformats.org/drawingml/2006/main">
              <a:ext uri="{FF2B5EF4-FFF2-40B4-BE49-F238E27FC236}">
                <a16:creationId xmlns:a16="http://schemas.microsoft.com/office/drawing/2014/main" id="{B255E03C-46EF-495B-A6A5-4F7DF86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766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Spring Boot 실행</a:t>
            </a:r>
          </a:p>
        </p:txBody>
      </p:sp>
      <p:sp>
        <p:nvSpPr>
          <p:cNvPr id="27" name="rds-card">
            <a:extLst xmlns:a="http://schemas.openxmlformats.org/drawingml/2006/main">
              <a:ext uri="{FF2B5EF4-FFF2-40B4-BE49-F238E27FC236}">
                <a16:creationId xmlns:a16="http://schemas.microsoft.com/office/drawing/2014/main" id="{6FEBEB3C-CEF3-4873-9E54-3DB304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33675"/>
            <a:ext cx="3219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CFC2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rds-mark">
            <a:extLst xmlns:a="http://schemas.openxmlformats.org/drawingml/2006/main">
              <a:ext uri="{FF2B5EF4-FFF2-40B4-BE49-F238E27FC236}">
                <a16:creationId xmlns:a16="http://schemas.microsoft.com/office/drawing/2014/main" id="{C3E872D9-4440-4000-BBF4-A12300D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860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29" name="rds-abbr">
            <a:extLst xmlns:a="http://schemas.openxmlformats.org/drawingml/2006/main">
              <a:ext uri="{FF2B5EF4-FFF2-40B4-BE49-F238E27FC236}">
                <a16:creationId xmlns:a16="http://schemas.microsoft.com/office/drawing/2014/main" id="{227855F6-42A5-4B70-A40F-00CD3A51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8860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5CE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C5CE5"/>
                </a:solidFill>
                <a:latin typeface="Malgun Gothic"/>
                <a:ea typeface="Malgun Gothic"/>
                <a:cs typeface="Malgun Gothic"/>
              </a:rPr>
              <a:t>DB</a:t>
            </a:r>
          </a:p>
        </p:txBody>
      </p:sp>
      <p:sp>
        <p:nvSpPr>
          <p:cNvPr id="30" name="rds-title">
            <a:extLst xmlns:a="http://schemas.openxmlformats.org/drawingml/2006/main">
              <a:ext uri="{FF2B5EF4-FFF2-40B4-BE49-F238E27FC236}">
                <a16:creationId xmlns:a16="http://schemas.microsoft.com/office/drawing/2014/main" id="{681A4177-9162-4037-A133-ECB422CE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479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Amazon RDS</a:t>
            </a:r>
          </a:p>
        </p:txBody>
      </p:sp>
      <p:sp>
        <p:nvSpPr>
          <p:cNvPr id="31" name="rds-body">
            <a:extLst xmlns:a="http://schemas.openxmlformats.org/drawingml/2006/main">
              <a:ext uri="{FF2B5EF4-FFF2-40B4-BE49-F238E27FC236}">
                <a16:creationId xmlns:a16="http://schemas.microsoft.com/office/drawing/2014/main" id="{E0E15661-092F-43E8-9123-F983D7FD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623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영속 데이터 저장</a:t>
            </a:r>
          </a:p>
        </p:txBody>
      </p:sp>
      <p:sp>
        <p:nvSpPr>
          <p:cNvPr id="32" name="redis-card">
            <a:extLst xmlns:a="http://schemas.openxmlformats.org/drawingml/2006/main">
              <a:ext uri="{FF2B5EF4-FFF2-40B4-BE49-F238E27FC236}">
                <a16:creationId xmlns:a16="http://schemas.microsoft.com/office/drawing/2014/main" id="{A8E23580-6D22-41FA-8862-C04EFEBC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3219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E3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redis-mark">
            <a:extLst xmlns:a="http://schemas.openxmlformats.org/drawingml/2006/main">
              <a:ext uri="{FF2B5EF4-FFF2-40B4-BE49-F238E27FC236}">
                <a16:creationId xmlns:a16="http://schemas.microsoft.com/office/drawing/2014/main" id="{A16A8961-DDD4-46A7-8DA3-28416AFB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671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F6EC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34" name="redis-abbr">
            <a:extLst xmlns:a="http://schemas.openxmlformats.org/drawingml/2006/main">
              <a:ext uri="{FF2B5EF4-FFF2-40B4-BE49-F238E27FC236}">
                <a16:creationId xmlns:a16="http://schemas.microsoft.com/office/drawing/2014/main" id="{AA109A9A-50F8-42DD-92D6-131A79C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67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AE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FAE69"/>
                </a:solidFill>
                <a:latin typeface="Malgun Gothic"/>
                <a:ea typeface="Malgun Gothic"/>
                <a:cs typeface="Malgun Gothic"/>
              </a:rPr>
              <a:t>RED</a:t>
            </a:r>
          </a:p>
        </p:txBody>
      </p:sp>
      <p:sp>
        <p:nvSpPr>
          <p:cNvPr id="35" name="redis-title">
            <a:extLst xmlns:a="http://schemas.openxmlformats.org/drawingml/2006/main">
              <a:ext uri="{FF2B5EF4-FFF2-40B4-BE49-F238E27FC236}">
                <a16:creationId xmlns:a16="http://schemas.microsoft.com/office/drawing/2014/main" id="{D9E1C4C0-D5BE-4C6A-9143-6877BEE5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829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Amazon ElastiCache</a:t>
            </a:r>
          </a:p>
        </p:txBody>
      </p:sp>
      <p:sp>
        <p:nvSpPr>
          <p:cNvPr id="36" name="redis-body">
            <a:extLst xmlns:a="http://schemas.openxmlformats.org/drawingml/2006/main">
              <a:ext uri="{FF2B5EF4-FFF2-40B4-BE49-F238E27FC236}">
                <a16:creationId xmlns:a16="http://schemas.microsoft.com/office/drawing/2014/main" id="{58681152-40A1-4CCC-98CB-B070E9B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1433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캐시 · 세션 · 빠른 조회</a:t>
            </a:r>
          </a:p>
        </p:txBody>
      </p:sp>
      <p:sp>
        <p:nvSpPr>
          <p:cNvPr id="37" name="s3-card">
            <a:extLst xmlns:a="http://schemas.openxmlformats.org/drawingml/2006/main">
              <a:ext uri="{FF2B5EF4-FFF2-40B4-BE49-F238E27FC236}">
                <a16:creationId xmlns:a16="http://schemas.microsoft.com/office/drawing/2014/main" id="{DCD5D0C6-9777-4D93-918A-BA96A3B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95825"/>
            <a:ext cx="3219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4B8B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s3-mark">
            <a:extLst xmlns:a="http://schemas.openxmlformats.org/drawingml/2006/main">
              <a:ext uri="{FF2B5EF4-FFF2-40B4-BE49-F238E27FC236}">
                <a16:creationId xmlns:a16="http://schemas.microsoft.com/office/drawing/2014/main" id="{68D86EB6-3358-4DB9-BE83-D98D8834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11906">
            <a:noFill/>
            <a:prstDash val="solid"/>
          </a:ln>
        </p:spPr>
      </p:sp>
      <p:sp>
        <p:nvSpPr>
          <p:cNvPr id="39" name="s3-abbr">
            <a:extLst xmlns:a="http://schemas.openxmlformats.org/drawingml/2006/main">
              <a:ext uri="{FF2B5EF4-FFF2-40B4-BE49-F238E27FC236}">
                <a16:creationId xmlns:a16="http://schemas.microsoft.com/office/drawing/2014/main" id="{3A3F9DCF-BCE4-4FA2-8F7D-9AA6F62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482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94D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94D3F"/>
                </a:solidFill>
                <a:latin typeface="Malgun Gothic"/>
                <a:ea typeface="Malgun Gothic"/>
                <a:cs typeface="Malgun Gothic"/>
              </a:rPr>
              <a:t>S3</a:t>
            </a:r>
          </a:p>
        </p:txBody>
      </p:sp>
      <p:sp>
        <p:nvSpPr>
          <p:cNvPr id="40" name="s3-title">
            <a:extLst xmlns:a="http://schemas.openxmlformats.org/drawingml/2006/main">
              <a:ext uri="{FF2B5EF4-FFF2-40B4-BE49-F238E27FC236}">
                <a16:creationId xmlns:a16="http://schemas.microsoft.com/office/drawing/2014/main" id="{F2E03F82-41A3-4E3F-9A39-1A6A8394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101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Amazon S3</a:t>
            </a:r>
          </a:p>
        </p:txBody>
      </p:sp>
      <p:sp>
        <p:nvSpPr>
          <p:cNvPr id="41" name="s3-body">
            <a:extLst xmlns:a="http://schemas.openxmlformats.org/drawingml/2006/main">
              <a:ext uri="{FF2B5EF4-FFF2-40B4-BE49-F238E27FC236}">
                <a16:creationId xmlns:a16="http://schemas.microsoft.com/office/drawing/2014/main" id="{E0B85F96-778B-4109-BC2F-86B9046E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124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E6A7D"/>
                </a:solidFill>
                <a:latin typeface="Malgun Gothic"/>
                <a:ea typeface="Malgun Gothic"/>
                <a:cs typeface="Malgun Gothic"/>
              </a:rPr>
              <a:t>파일 · 이미지 저장</a:t>
            </a:r>
          </a:p>
        </p:txBody>
      </p:sp>
      <p:cxnSp>
        <p:nvCxnSpPr>
          <p:cNvPr id="9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038350" y="360997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243A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381500" y="36099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7143750" y="3124200"/>
            <a:ext cx="714375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22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143750" y="3609975"/>
            <a:ext cx="714375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5758B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143750" y="3609975"/>
            <a:ext cx="714375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5758B"/>
            </a:solidFill>
            <a:prstDash val="solid"/>
            <a:tailEnd type="arrow" w="med" len="med"/>
          </a:ln>
        </p:spPr>
      </p:cxnSp>
      <p:sp>
        <p:nvSpPr>
          <p:cNvPr id="47" name="flow-client-alb">
            <a:extLst xmlns:a="http://schemas.openxmlformats.org/drawingml/2006/main">
              <a:ext uri="{FF2B5EF4-FFF2-40B4-BE49-F238E27FC236}">
                <a16:creationId xmlns:a16="http://schemas.microsoft.com/office/drawing/2014/main" id="{0322D1CF-D706-462B-96F1-FB5D3E7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956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0">
            <a:solidFill>
              <a:srgbClr val="18243A"/>
            </a:solidFill>
            <a:prstDash val="solid"/>
          </a:ln>
        </p:spPr>
      </p:sp>
      <p:sp>
        <p:nvSpPr>
          <p:cNvPr id="48" name="flow-alb-ecs">
            <a:extLst xmlns:a="http://schemas.openxmlformats.org/drawingml/2006/main">
              <a:ext uri="{FF2B5EF4-FFF2-40B4-BE49-F238E27FC236}">
                <a16:creationId xmlns:a16="http://schemas.microsoft.com/office/drawing/2014/main" id="{9BC96C14-0922-49F2-8EE1-C96271AE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956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9" name="flow-ecs-rds">
            <a:extLst xmlns:a="http://schemas.openxmlformats.org/drawingml/2006/main">
              <a:ext uri="{FF2B5EF4-FFF2-40B4-BE49-F238E27FC236}">
                <a16:creationId xmlns:a16="http://schemas.microsoft.com/office/drawing/2014/main" id="{3FFE5D0C-2BFA-441C-82E5-5B42396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1942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solidFill>
              <a:srgbClr val="65758B"/>
            </a:solidFill>
            <a:prstDash val="solid"/>
          </a:ln>
        </p:spPr>
      </p:sp>
      <p:sp>
        <p:nvSpPr>
          <p:cNvPr id="50" name="flow-ecs-redis">
            <a:extLst xmlns:a="http://schemas.openxmlformats.org/drawingml/2006/main">
              <a:ext uri="{FF2B5EF4-FFF2-40B4-BE49-F238E27FC236}">
                <a16:creationId xmlns:a16="http://schemas.microsoft.com/office/drawing/2014/main" id="{B0BCF54A-39F9-47CA-ABCC-1605BF38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solidFill>
              <a:srgbClr val="65758B"/>
            </a:solidFill>
            <a:prstDash val="solid"/>
          </a:ln>
        </p:spPr>
      </p:sp>
      <p:sp>
        <p:nvSpPr>
          <p:cNvPr id="51" name="flow-ecs-s3">
            <a:extLst xmlns:a="http://schemas.openxmlformats.org/drawingml/2006/main">
              <a:ext uri="{FF2B5EF4-FFF2-40B4-BE49-F238E27FC236}">
                <a16:creationId xmlns:a16="http://schemas.microsoft.com/office/drawing/2014/main" id="{69748F8D-D55A-468A-870A-25C04B6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81575"/>
            <a:ext cx="2381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5758B"/>
          </a:solidFill>
          <a:ln xmlns:a="http://schemas.openxmlformats.org/drawingml/2006/main" w="0">
            <a:solidFill>
              <a:srgbClr val="65758B"/>
            </a:solidFill>
            <a:prstDash val="solid"/>
          </a:ln>
        </p:spPr>
      </p:sp>
      <p:sp>
        <p:nvSpPr>
          <p:cNvPr id="52" name="security-strip">
            <a:extLst xmlns:a="http://schemas.openxmlformats.org/drawingml/2006/main">
              <a:ext uri="{FF2B5EF4-FFF2-40B4-BE49-F238E27FC236}">
                <a16:creationId xmlns:a16="http://schemas.microsoft.com/office/drawing/2014/main" id="{7759DE03-34AC-4A53-A663-452F2EC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15025"/>
            <a:ext cx="104965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8243A"/>
          </a:solidFill>
          <a:ln xmlns:a="http://schemas.openxmlformats.org/drawingml/2006/main" w="11906">
            <a:solidFill>
              <a:srgbClr val="18243A"/>
            </a:solidFill>
            <a:prstDash val="solid"/>
          </a:ln>
        </p:spPr>
      </p:sp>
      <p:sp>
        <p:nvSpPr>
          <p:cNvPr id="53" name="security-title">
            <a:extLst xmlns:a="http://schemas.openxmlformats.org/drawingml/2006/main">
              <a:ext uri="{FF2B5EF4-FFF2-40B4-BE49-F238E27FC236}">
                <a16:creationId xmlns:a16="http://schemas.microsoft.com/office/drawing/2014/main" id="{4F32A42E-D0B5-448E-BB66-DB405250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54" name="principle-1">
            <a:extLst xmlns:a="http://schemas.openxmlformats.org/drawingml/2006/main">
              <a:ext uri="{FF2B5EF4-FFF2-40B4-BE49-F238E27FC236}">
                <a16:creationId xmlns:a16="http://schemas.microsoft.com/office/drawing/2014/main" id="{DC97F863-4AC7-41B4-99C1-5ABFD2E2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603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rPr>
              <a:t>① 데이터 계층 외부 공개 차단</a:t>
            </a:r>
          </a:p>
        </p:txBody>
      </p:sp>
      <p:sp>
        <p:nvSpPr>
          <p:cNvPr id="55" name="principle-2">
            <a:extLst xmlns:a="http://schemas.openxmlformats.org/drawingml/2006/main">
              <a:ext uri="{FF2B5EF4-FFF2-40B4-BE49-F238E27FC236}">
                <a16:creationId xmlns:a16="http://schemas.microsoft.com/office/drawing/2014/main" id="{2F8D1C04-3378-4626-90D2-9DDBE867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38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rPr>
              <a:t>② 보안 그룹으로 필요한 포트만 허용</a:t>
            </a:r>
          </a:p>
        </p:txBody>
      </p:sp>
      <p:sp>
        <p:nvSpPr>
          <p:cNvPr id="56" name="principle-3">
            <a:extLst xmlns:a="http://schemas.openxmlformats.org/drawingml/2006/main">
              <a:ext uri="{FF2B5EF4-FFF2-40B4-BE49-F238E27FC236}">
                <a16:creationId xmlns:a16="http://schemas.microsoft.com/office/drawing/2014/main" id="{7F018FF0-C2DB-40AE-9DAC-BB775080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388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E9EEF6"/>
                </a:solidFill>
                <a:latin typeface="Malgun Gothic"/>
                <a:ea typeface="Malgun Gothic"/>
                <a:cs typeface="Malgun Gothic"/>
              </a:rPr>
              <a:t>③ S3는 VPC Endpoint 사용</a:t>
            </a:r>
          </a:p>
        </p:txBody>
      </p:sp>
      <p:sp>
        <p:nvSpPr>
          <p:cNvPr id="57" name="slide-2">
            <a:extLst xmlns:a="http://schemas.openxmlformats.org/drawingml/2006/main">
              <a:ext uri="{FF2B5EF4-FFF2-40B4-BE49-F238E27FC236}">
                <a16:creationId xmlns:a16="http://schemas.microsoft.com/office/drawing/2014/main" id="{B5180C13-6D1A-4503-B54B-D95D7E34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791A1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8791A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8391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2026-07-25T10:44:08.6540000Z</dcterms:created>
  <dcterms:modified xsi:type="dcterms:W3CDTF">2026-07-25T10:44:08.6540000Z</dcterms:modified>
</coreProperties>
</file>